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83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amazo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463040" cy="6199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SALES ANALYTICS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154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Design &amp; Layout Deck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0080" y="3886200"/>
            <a:ext cx="1638605" cy="384048"/>
          </a:xfrm>
          <a:prstGeom prst="roundRect">
            <a:avLst>
              <a:gd name="adj" fmla="val 19048"/>
            </a:avLst>
          </a:prstGeom>
          <a:solidFill>
            <a:srgbClr val="1F2937"/>
          </a:solidFill>
          <a:ln w="9525">
            <a:solidFill>
              <a:srgbClr val="3A445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886200"/>
            <a:ext cx="16386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Report Pages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479853" y="3886200"/>
            <a:ext cx="1243584" cy="384048"/>
          </a:xfrm>
          <a:prstGeom prst="roundRect">
            <a:avLst>
              <a:gd name="adj" fmla="val 19048"/>
            </a:avLst>
          </a:prstGeom>
          <a:solidFill>
            <a:srgbClr val="1F2937"/>
          </a:solidFill>
          <a:ln w="9525">
            <a:solidFill>
              <a:srgbClr val="3A445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79853" y="388620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Visuals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24605" y="3886200"/>
            <a:ext cx="3416198" cy="384048"/>
          </a:xfrm>
          <a:prstGeom prst="roundRect">
            <a:avLst>
              <a:gd name="adj" fmla="val 19048"/>
            </a:avLst>
          </a:prstGeom>
          <a:solidFill>
            <a:srgbClr val="1F2937"/>
          </a:solidFill>
          <a:ln w="9525">
            <a:solidFill>
              <a:srgbClr val="3A44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24605" y="3886200"/>
            <a:ext cx="34161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placeholders included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Amazon_SalesData_2026.pbix  •  Pages: Home, Executive Sales Overview, Product &amp; Category Analysis, Customer &amp; Regional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Dashboard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81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0136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 — sales, orders, quantity, customers, AOV — plus month-over-month growth and a sales trend over 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457200" cy="457200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51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Performance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categories, sub-categories, brands and products drive revenue, and how discounting and price affect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22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Regional Reach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4223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spend by state and city, and how payment method and shipping cost vary by region.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457200" cy="457200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9926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Hub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31266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 page that routes viewers into the three analysis pages, each linked with back-and-forward buttons.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1508760"/>
            <a:ext cx="4572000" cy="4663440"/>
          </a:xfrm>
          <a:prstGeom prst="roundRect">
            <a:avLst>
              <a:gd name="adj" fmla="val 1600"/>
            </a:avLst>
          </a:prstGeom>
          <a:solidFill>
            <a:srgbClr val="13192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609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SNAPSHOT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3408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9443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2999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visuals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6027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measures on Executive page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426110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3159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across the report (date, state, city, brand, ship date)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49194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9743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buttons routing from Home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Four Dashboard Pages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.pbix report is organized, and how many visuals sit on each page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1319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1480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hub — 4 action buttons routing into the report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3474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55848" y="196596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4448" y="224028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13192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84448" y="22402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3154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Sales Overview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411480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trend combo chart, top brands &amp; sub-categories, payment mix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888736" y="3474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163056" y="196596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224028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13192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1656" y="22402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3154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Analysis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91656" y="411480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Funnel, decomposition tree, category/brand breakdowns, 6 slicers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474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970264" y="196596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98864" y="224028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13192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98864" y="22402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9198864" y="3154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153144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Regional Analysis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411480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state/city sales, payment mix, shipping cost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926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Calculated Columns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Query / the Sales table before any measure runs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325880"/>
          <a:ext cx="11274552" cy="23042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* unit_price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before discount is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* unit_price * discount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of discount given per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* unit_price * (1 - discount)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 vs. source total_sales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Days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DATEDIFF(order_date, ship_date, DAY)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back — 4,915 rows ship before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Days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DATEDIFF(order_date, delivery_date, DAY)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3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back for the same data-quality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 |  Dashboard Design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Volume &amp; Value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aggregations every KPI card and chart is built 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78608" y="173736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(typical pattern)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510528" y="1737360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1031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21031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SUM('Sales'[sales_amount])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2103120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revenue figure behind every sales chart and card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1091672" cy="5669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6700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Total_Order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267004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DISTINCTCOUNT('Sales'[order_id])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670048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for the Executive KPI strip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2369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Total_Quantity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578608" y="32369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SUM('Sales'[quantity])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236976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used on KPI cards and product charts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03904"/>
            <a:ext cx="11091672" cy="5669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8039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Total_Products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578608" y="38039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DISTINCTCOUNT('Sales'[product_name])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3803904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products sold, paired with Total_Sales in the trend combo chart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3708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Total_Customers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578608" y="43708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DISTINCTCOUNT('Sales'[customer_name])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510528" y="4370832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buyer count for the Executive KPI strip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091672" cy="5669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49377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Average_Order_Value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578608" y="49377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DIVIDE([Total_Sales], [Total_Order])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510528" y="4937760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order (AOV)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5046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Averagre_Selling_Price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578608" y="55046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DIVIDE([Total_Sales], [Total_Quantity])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10528" y="5504688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realised per unit sold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Power BI's compiled data model is stored in a compressed binary format inside the .pbix file and can't be decompiled directly. Names below are the exact fields used in the report; formulas are the standard pattern for that name — verify the exact syntax in Power BI Desktop.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Trend &amp; Discount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growth, top performer, discount and shipping-cost measures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373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78608" y="173736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(typical pattern)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424928" y="1737360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1031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Previous_month_Sales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21031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CALCULATE([Total_Sales], DATEADD('Date'[Date], -1, MONTH))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424928" y="2103120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month's sales, for the growth comparison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1091672" cy="5669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6700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Current_month_Sales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26700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CALCULATE([Total_Sales], MONTH('Date'[Date]) = MONTH(TODAY()))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24928" y="2670048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month's sales-to-date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2369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Sales_Grwoth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578608" y="32369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DIVIDE([Current_month_Sales] - [Previous_month_Sales], [Previous_month_Sales])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424928" y="3236976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% growth shown on the Executive KPI strip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03904"/>
            <a:ext cx="11091672" cy="5669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8039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Top_Product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578608" y="38039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CALCULATE(VALUES('Sales'[product_name]), TOPN(1, ALL('Sales'[product_name]), [Total_Sales]))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424928" y="3803904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product name, shown as a KPI card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3708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Average_Discount_%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578608" y="43708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AVERAGE('Sales'[discount_pct])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424928" y="4370832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applied across orders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091672" cy="5669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49377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Total_Shipping_Cost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578608" y="493776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SUM('Sales'[shipping_cost])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424928" y="4937760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logistics spend, shown on the Regional page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Power BI's compiled data model is stored in a compressed binary format inside the .pbix file and can't be decompiled directly. Names below are the exact fields used in the report; formulas are the standard pattern for that name — verify the exact syntax in Power BI Desktop.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Usage Mapping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visual type carries which kind of insight across the report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830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035808" y="1783080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90688" y="178308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chart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148840"/>
            <a:ext cx="2194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visual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2148840"/>
            <a:ext cx="4572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 (Total Sales, Orders, AOV, Growth)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2148840"/>
            <a:ext cx="3749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numbers read fastest at a glance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38044"/>
            <a:ext cx="11064240" cy="48920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638044"/>
            <a:ext cx="2194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035808" y="2638044"/>
            <a:ext cx="4572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method, category &amp; sub-category share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638044"/>
            <a:ext cx="3749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part-to-whole split with few slices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127248"/>
            <a:ext cx="2194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3127248"/>
            <a:ext cx="4572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share of total sales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90688" y="3127248"/>
            <a:ext cx="3749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hierarchy and relative size together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16452"/>
            <a:ext cx="11064240" cy="48920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616452"/>
            <a:ext cx="2194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clustered column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035808" y="3616452"/>
            <a:ext cx="4572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brand, category, state comparisons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90688" y="3616452"/>
            <a:ext cx="3749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comparing magnitudes across groups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105656"/>
            <a:ext cx="2194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column combo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035808" y="4105656"/>
            <a:ext cx="4572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product volume trend over time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105656"/>
            <a:ext cx="3749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 volume, line highlights direction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594860"/>
            <a:ext cx="11064240" cy="48920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4594860"/>
            <a:ext cx="2194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035808" y="4594860"/>
            <a:ext cx="4572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sales progression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790688" y="4594860"/>
            <a:ext cx="3749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drop-off across a ranked sequence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084064"/>
            <a:ext cx="2194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035808" y="5084064"/>
            <a:ext cx="4572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 → sub-category → brand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790688" y="5084064"/>
            <a:ext cx="3749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viewer drill top-down into what drives sales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573268"/>
            <a:ext cx="11064240" cy="48920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5573268"/>
            <a:ext cx="2194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035808" y="5573268"/>
            <a:ext cx="4572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sub-categories, top brands, top customers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790688" y="5573268"/>
            <a:ext cx="3749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ranked values a chart would blur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6062472"/>
            <a:ext cx="2194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035808" y="6062472"/>
            <a:ext cx="4572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state, city, brand, ship date filters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790688" y="6062472"/>
            <a:ext cx="37490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viewers cross-filter every visual on the page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hub — routes the viewer into the three analysis pages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4434840"/>
          </a:xfrm>
          <a:prstGeom prst="roundRect">
            <a:avLst>
              <a:gd name="adj" fmla="val 1237"/>
            </a:avLst>
          </a:prstGeom>
          <a:solidFill>
            <a:srgbClr val="EEF1F4"/>
          </a:solidFill>
          <a:ln w="19050">
            <a:solidFill>
              <a:srgbClr val="AAB2B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32689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
</a:t>
            </a:r>
            <a:r>
              <a:rPr lang="en-US" sz="1100" dirty="0">
                <a:solidFill>
                  <a:srgbClr val="83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screenshot of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3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"Home" here (16:9, e.g. 1280×720)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720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600200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ON THIS PAGE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26680" y="191109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91272" y="1828800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buttons (×4)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Executive Sales Overview, Product &amp; Category Analysis, and Customer &amp; Regional 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26680" y="224028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91272" y="2157984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/ logo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branding and title banner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596896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871216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this is a landing page only.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6144768"/>
            <a:ext cx="6949440" cy="384048"/>
          </a:xfrm>
          <a:prstGeom prst="roundRect">
            <a:avLst>
              <a:gd name="adj" fmla="val 11905"/>
            </a:avLst>
          </a:prstGeom>
          <a:solidFill>
            <a:srgbClr val="FFF4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6144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Home → Executive Sales Overview → Product &amp; Category Analysis → Customer &amp; Regional Analysis (each page also has back/forward arrows)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A7A764F-82B9-5436-6853-E39A91A27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25" y="1600200"/>
            <a:ext cx="7113727" cy="4443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Sales Overview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KPIs, sales trend, and top-line composition of the business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4434840"/>
          </a:xfrm>
          <a:prstGeom prst="roundRect">
            <a:avLst>
              <a:gd name="adj" fmla="val 1237"/>
            </a:avLst>
          </a:prstGeom>
          <a:solidFill>
            <a:srgbClr val="EEF1F4"/>
          </a:solidFill>
          <a:ln w="19050">
            <a:solidFill>
              <a:srgbClr val="AAB2B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32689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
</a:t>
            </a:r>
            <a:r>
              <a:rPr lang="en-US" sz="1100" dirty="0">
                <a:solidFill>
                  <a:srgbClr val="83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screenshot of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3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"Executive Sales Overview" here (16:9, e.g. 1280×720)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720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600200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19170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1856232"/>
            <a:ext cx="1770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9771736" y="1856232"/>
            <a:ext cx="19170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63176" y="1856232"/>
            <a:ext cx="1770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726680" y="2185416"/>
            <a:ext cx="19170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2185416"/>
            <a:ext cx="1770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9771736" y="2185416"/>
            <a:ext cx="19170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63176" y="2185416"/>
            <a:ext cx="1770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726680" y="2514600"/>
            <a:ext cx="19170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514600"/>
            <a:ext cx="1770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9771736" y="2514600"/>
            <a:ext cx="19170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3176" y="2514600"/>
            <a:ext cx="1770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Month Sales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726680" y="2843784"/>
            <a:ext cx="19170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2843784"/>
            <a:ext cx="1770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 Sales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9771736" y="2843784"/>
            <a:ext cx="1917040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63176" y="2843784"/>
            <a:ext cx="1770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%</a:t>
            </a:r>
            <a:endParaRPr lang="en-US" sz="87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3319272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ON THIS PAGE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0" y="363016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91272" y="3547872"/>
            <a:ext cx="379750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column combo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&amp; Total Products by order date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26680" y="3918204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91272" y="3835908"/>
            <a:ext cx="379750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category &amp; sub-category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26680" y="420624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91272" y="4123944"/>
            <a:ext cx="379750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product name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26680" y="449427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891272" y="4411980"/>
            <a:ext cx="379750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share by sub-category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26680" y="4782312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891272" y="4700016"/>
            <a:ext cx="379750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payment method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26680" y="507034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891272" y="4988052"/>
            <a:ext cx="379750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month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26680" y="5358384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891272" y="5276088"/>
            <a:ext cx="379750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(×2)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sub-categories · Top 3 brands by sales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5673852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726680" y="5948172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(Order Date, between range)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A6FDE1B-28F6-A737-161A-13CABDA29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7340"/>
            <a:ext cx="7141464" cy="45308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Category Analysis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brand and product-level performance with pricing &amp; discount detail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4434840"/>
          </a:xfrm>
          <a:prstGeom prst="roundRect">
            <a:avLst>
              <a:gd name="adj" fmla="val 1237"/>
            </a:avLst>
          </a:prstGeom>
          <a:solidFill>
            <a:srgbClr val="EEF1F4"/>
          </a:solidFill>
          <a:ln w="19050">
            <a:solidFill>
              <a:srgbClr val="AAB2B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32689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
</a:t>
            </a:r>
            <a:r>
              <a:rPr lang="en-US" sz="1100" dirty="0">
                <a:solidFill>
                  <a:srgbClr val="83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screenshot of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3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"Product &amp; Category Analysis" here (16:9, e.g. 1280×720)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720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600200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1856232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726680" y="2185416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2185416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726680" y="2514600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2514600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726680" y="2843784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2843784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Selling Price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726680" y="3172968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3172968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 %</a:t>
            </a:r>
            <a:endParaRPr lang="en-US" sz="87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648456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ON THIS PAGE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3959352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91272" y="3877056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split by category → sub-category → brand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26680" y="428853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91272" y="4206240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product name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26680" y="461772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91272" y="4535424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&amp; Total Products by sub-category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26680" y="4946904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91272" y="4864608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brand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26680" y="527608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91272" y="5193792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category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26680" y="5605272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91272" y="5522976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Brand · Category · Orders · Qty · Sales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596188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6236208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City · Brand · Order Date · Ship Date  (6 slicers total)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1DFF9BA-34F0-12D3-579E-F939D82B5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80" y="1576343"/>
            <a:ext cx="7085172" cy="45318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7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Regional Analysis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plus sales, payment mix and shipping cost by state &amp; city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689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
</a:t>
            </a:r>
            <a:r>
              <a:rPr lang="en-US" sz="1100" dirty="0">
                <a:solidFill>
                  <a:srgbClr val="83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Power BI screenshot of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3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 &amp; Regional Analysis" here (16:9, e.g. 1280×720)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720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600200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1856232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726680" y="2185416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2185416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726680" y="2514600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2514600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Selling Price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726680" y="2843784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2843784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Shipping Cost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726680" y="3172968"/>
            <a:ext cx="3962095" cy="27432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3172968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87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648456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ON THIS PAGE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3959352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91272" y="3877056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stacked column combo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city &amp; order date, split by category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26680" y="428853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91272" y="4206240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state, split by category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26680" y="461772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91272" y="4535424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customer name &amp; month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26680" y="4946904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91272" y="4864608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payment method / state / category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26680" y="527608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891272" y="5193792"/>
            <a:ext cx="379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Orders · Quantity · Sales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5907024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(Order Date, between range)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46E3113-DE7E-ED31-49C2-9AAB2E49C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73" y="1943100"/>
            <a:ext cx="5634104" cy="36830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VIEWING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Viewer Moves Through the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1B2531"/>
          </a:solidFill>
          <a:ln w="12700">
            <a:solidFill>
              <a:srgbClr val="313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5468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— pick a destination from the navigation menu.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026664" y="28346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73552" y="16916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1B2531"/>
          </a:solidFill>
          <a:ln w="12700">
            <a:solidFill>
              <a:srgbClr val="313D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94767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215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Sales Overview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15468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top-line KPIs and the overall sales trend.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751576" y="28346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98464" y="16916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1B2531"/>
          </a:solidFill>
          <a:ln w="12700">
            <a:solidFill>
              <a:srgbClr val="313D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7064" y="194767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27064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Analysis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15468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which categories, brands and products drive it.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76488" y="28346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23376" y="16916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1B2531"/>
          </a:solidFill>
          <a:ln w="12700">
            <a:solidFill>
              <a:srgbClr val="313D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1976" y="194767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51976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9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924544" y="260604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Regional Analysis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924544" y="315468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on who is buying, and from where.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1B2531"/>
          </a:solidFill>
          <a:ln w="12700">
            <a:solidFill>
              <a:srgbClr val="313D4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YOUR SCREENSHOTS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321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each report page in Power BI, use Export → Image (or Alt+PrtScn) at 1280 × 720, then drag the image into the dashed placeholder on slides 8–11, resizing to fill the box.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Analytics — Dashboard Design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1750</Words>
  <Application>Microsoft Office PowerPoint</Application>
  <PresentationFormat>Widescreen</PresentationFormat>
  <Paragraphs>291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Tharun Kattiparambil Thambi</cp:lastModifiedBy>
  <cp:revision>4</cp:revision>
  <dcterms:created xsi:type="dcterms:W3CDTF">2026-09-16T02:01:30Z</dcterms:created>
  <dcterms:modified xsi:type="dcterms:W3CDTF">2026-09-16T11:24:10Z</dcterms:modified>
</cp:coreProperties>
</file>