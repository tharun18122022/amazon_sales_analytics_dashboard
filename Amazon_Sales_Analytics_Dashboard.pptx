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68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9" r:id="rId14"/>
    <p:sldId id="270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4" d="100"/>
          <a:sy n="74" d="100"/>
        </p:scale>
        <p:origin x="352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688375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74225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76726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19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amazo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02920"/>
            <a:ext cx="1463040" cy="6199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2331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AMAZON SALES ANALYTICS</a:t>
            </a:r>
            <a:endParaRPr lang="en-US" sz="42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315468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Dashboard — Design &amp; Layout Deck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640080" y="3886200"/>
            <a:ext cx="1638605" cy="384048"/>
          </a:xfrm>
          <a:prstGeom prst="roundRect">
            <a:avLst>
              <a:gd name="adj" fmla="val 19048"/>
            </a:avLst>
          </a:prstGeom>
          <a:solidFill>
            <a:srgbClr val="1F2937"/>
          </a:solidFill>
          <a:ln w="9525">
            <a:solidFill>
              <a:srgbClr val="3A445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3886200"/>
            <a:ext cx="163860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D7DB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Report Pages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2479853" y="3886200"/>
            <a:ext cx="1243584" cy="384048"/>
          </a:xfrm>
          <a:prstGeom prst="roundRect">
            <a:avLst>
              <a:gd name="adj" fmla="val 19048"/>
            </a:avLst>
          </a:prstGeom>
          <a:solidFill>
            <a:srgbClr val="1F2937"/>
          </a:solidFill>
          <a:ln w="9525">
            <a:solidFill>
              <a:srgbClr val="3A445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479853" y="3886200"/>
            <a:ext cx="12435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D7DB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Visuals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924605" y="3886200"/>
            <a:ext cx="3416198" cy="384048"/>
          </a:xfrm>
          <a:prstGeom prst="roundRect">
            <a:avLst>
              <a:gd name="adj" fmla="val 19048"/>
            </a:avLst>
          </a:prstGeom>
          <a:solidFill>
            <a:srgbClr val="1F2937"/>
          </a:solidFill>
          <a:ln w="9525">
            <a:solidFill>
              <a:srgbClr val="3A445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924605" y="3886200"/>
            <a:ext cx="34161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D7DB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 placeholders included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61722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Amazon_SalesData_2026.pbix  •  Pages: Home, Executive Sales Overview, Product &amp; Category Analysis, Customer &amp; Regional Analysis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479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61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Dashboard Answers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457200" cy="457200"/>
          </a:xfrm>
          <a:prstGeom prst="ellipse">
            <a:avLst/>
          </a:prstGeom>
          <a:solidFill>
            <a:srgbClr val="13192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481328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Snapshot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801368"/>
            <a:ext cx="5394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KPIs — sales, orders, quantity, customers, AOV — plus month-over-month growth and a sales trend over time.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2679192"/>
            <a:ext cx="457200" cy="457200"/>
          </a:xfrm>
          <a:prstGeom prst="ellipse">
            <a:avLst/>
          </a:prstGeom>
          <a:solidFill>
            <a:srgbClr val="13192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679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65176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&amp; Category Performance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971800"/>
            <a:ext cx="5394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categories, sub-categories, brands and products drive revenue, and how discounting and price affect it.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3849624"/>
            <a:ext cx="457200" cy="457200"/>
          </a:xfrm>
          <a:prstGeom prst="ellipse">
            <a:avLst/>
          </a:prstGeom>
          <a:solidFill>
            <a:srgbClr val="13192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8496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822192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&amp; Regional Reach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4142232"/>
            <a:ext cx="5394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customers, spend by state and city, and how payment method and shipping cost vary by region.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5020056"/>
            <a:ext cx="457200" cy="457200"/>
          </a:xfrm>
          <a:prstGeom prst="ellipse">
            <a:avLst/>
          </a:prstGeom>
          <a:solidFill>
            <a:srgbClr val="13192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50200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4992624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 Hub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5312664"/>
            <a:ext cx="5394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Home page that routes viewers into the three analysis pages, each linked with back-and-forward buttons.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040880" y="1508760"/>
            <a:ext cx="4572000" cy="4663440"/>
          </a:xfrm>
          <a:prstGeom prst="roundRect">
            <a:avLst>
              <a:gd name="adj" fmla="val 1600"/>
            </a:avLst>
          </a:prstGeom>
          <a:solidFill>
            <a:srgbClr val="13192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360920" y="17830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SNAPSHOT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360920" y="22860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8366760" y="2340864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7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pages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360920" y="2944368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</a:t>
            </a:r>
            <a:endParaRPr lang="en-US" sz="2600" dirty="0"/>
          </a:p>
        </p:txBody>
      </p:sp>
      <p:sp>
        <p:nvSpPr>
          <p:cNvPr id="25" name="Text 23"/>
          <p:cNvSpPr txBox="1"/>
          <p:nvPr/>
        </p:nvSpPr>
        <p:spPr>
          <a:xfrm>
            <a:off x="8366760" y="299923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7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visuals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360920" y="3602736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8366760" y="36576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7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card measures on Executive page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7360920" y="4261104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600" dirty="0"/>
          </a:p>
        </p:txBody>
      </p:sp>
      <p:sp>
        <p:nvSpPr>
          <p:cNvPr id="29" name="Text 27"/>
          <p:cNvSpPr txBox="1"/>
          <p:nvPr/>
        </p:nvSpPr>
        <p:spPr>
          <a:xfrm>
            <a:off x="8366760" y="431596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7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Slicers across the report (date, state, city, brand, ship date)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7360920" y="49194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31" name="Text 29"/>
          <p:cNvSpPr txBox="1"/>
          <p:nvPr/>
        </p:nvSpPr>
        <p:spPr>
          <a:xfrm>
            <a:off x="8366760" y="4974336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7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 buttons routing from Home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Sales Analytics — Dashboard Design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11368735" y="65288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479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STRUCTURE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61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Data to Four Dashboard Pages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70432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.pbix report is organized, and how many visuals sit on each page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2514600" cy="3566160"/>
          </a:xfrm>
          <a:prstGeom prst="roundRect">
            <a:avLst>
              <a:gd name="adj" fmla="val 2909"/>
            </a:avLst>
          </a:prstGeom>
          <a:solidFill>
            <a:srgbClr val="F7F8FA"/>
          </a:solidFill>
          <a:ln w="12700">
            <a:solidFill>
              <a:srgbClr val="E3E6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240280"/>
            <a:ext cx="2057400" cy="822960"/>
          </a:xfrm>
          <a:prstGeom prst="roundRect">
            <a:avLst>
              <a:gd name="adj" fmla="val 6667"/>
            </a:avLst>
          </a:prstGeom>
          <a:solidFill>
            <a:srgbClr val="13192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224028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9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15468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VISUALS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447288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114800"/>
            <a:ext cx="2057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 hub — 4 action buttons routing into the report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081528" y="347472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479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3355848" y="1965960"/>
            <a:ext cx="2514600" cy="3566160"/>
          </a:xfrm>
          <a:prstGeom prst="roundRect">
            <a:avLst>
              <a:gd name="adj" fmla="val 2909"/>
            </a:avLst>
          </a:prstGeom>
          <a:solidFill>
            <a:srgbClr val="F7F8FA"/>
          </a:solidFill>
          <a:ln w="12700">
            <a:solidFill>
              <a:srgbClr val="E3E6E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84448" y="2240280"/>
            <a:ext cx="2057400" cy="822960"/>
          </a:xfrm>
          <a:prstGeom prst="roundRect">
            <a:avLst>
              <a:gd name="adj" fmla="val 6667"/>
            </a:avLst>
          </a:prstGeom>
          <a:solidFill>
            <a:srgbClr val="13192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584448" y="224028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9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3584448" y="315468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VISUALS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3538728" y="3447288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Sales Overview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584448" y="4114800"/>
            <a:ext cx="2057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cards, trend combo chart, top brands &amp; sub-categories, payment mix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5888736" y="347472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479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163056" y="1965960"/>
            <a:ext cx="2514600" cy="3566160"/>
          </a:xfrm>
          <a:prstGeom prst="roundRect">
            <a:avLst>
              <a:gd name="adj" fmla="val 2909"/>
            </a:avLst>
          </a:prstGeom>
          <a:solidFill>
            <a:srgbClr val="F7F8FA"/>
          </a:solidFill>
          <a:ln w="12700">
            <a:solidFill>
              <a:srgbClr val="E3E6E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1656" y="2240280"/>
            <a:ext cx="2057400" cy="822960"/>
          </a:xfrm>
          <a:prstGeom prst="roundRect">
            <a:avLst>
              <a:gd name="adj" fmla="val 6667"/>
            </a:avLst>
          </a:prstGeom>
          <a:solidFill>
            <a:srgbClr val="13192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391656" y="224028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9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3000" dirty="0"/>
          </a:p>
        </p:txBody>
      </p:sp>
      <p:sp>
        <p:nvSpPr>
          <p:cNvPr id="22" name="Text 20"/>
          <p:cNvSpPr txBox="1"/>
          <p:nvPr/>
        </p:nvSpPr>
        <p:spPr>
          <a:xfrm>
            <a:off x="6391656" y="315468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VISUALS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6345936" y="3447288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&amp; Category Analysis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391656" y="4114800"/>
            <a:ext cx="2057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Funnel, decomposition tree, category/brand breakdowns, 6 slicers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8695944" y="347472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479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8970264" y="1965960"/>
            <a:ext cx="2514600" cy="3566160"/>
          </a:xfrm>
          <a:prstGeom prst="roundRect">
            <a:avLst>
              <a:gd name="adj" fmla="val 2909"/>
            </a:avLst>
          </a:prstGeom>
          <a:solidFill>
            <a:srgbClr val="F7F8FA"/>
          </a:solidFill>
          <a:ln w="12700">
            <a:solidFill>
              <a:srgbClr val="E3E6E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198864" y="2240280"/>
            <a:ext cx="2057400" cy="822960"/>
          </a:xfrm>
          <a:prstGeom prst="roundRect">
            <a:avLst>
              <a:gd name="adj" fmla="val 6667"/>
            </a:avLst>
          </a:prstGeom>
          <a:solidFill>
            <a:srgbClr val="13192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198864" y="224028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9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3000" dirty="0"/>
          </a:p>
        </p:txBody>
      </p:sp>
      <p:sp>
        <p:nvSpPr>
          <p:cNvPr id="29" name="Text 27"/>
          <p:cNvSpPr txBox="1"/>
          <p:nvPr/>
        </p:nvSpPr>
        <p:spPr>
          <a:xfrm>
            <a:off x="9198864" y="315468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VISUALS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9153144" y="3447288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&amp; Regional Analysis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198864" y="4114800"/>
            <a:ext cx="2057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customers, state/city sales, payment mix, shipping cost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Sales Analytics — Dashboard Design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11368735" y="65288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292608" cy="292608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31A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292608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31A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Calculated Columns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in Power Query / the Sales table before any measure runs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/>
        </p:nvGraphicFramePr>
        <p:xfrm>
          <a:off x="457200" y="1325880"/>
          <a:ext cx="11274552" cy="2304288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679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Column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7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A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Formula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7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A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7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A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31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Gross Amount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7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31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quantity * unit_price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7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31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before discount is applied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7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31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Discount Amount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7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31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quantity * unit_price * discount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7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31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 of discount given per line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7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31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Calculated Sales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7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31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quantity * unit_price * (1 - discount)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7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31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Cross-check vs. source total_sales column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7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31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Shipping Days 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7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31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DATEDIFF(order_date, ship_date, DAY)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7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31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Held back — 4,915 rows ship before order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7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31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Delivery Days 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7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31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DATEDIFF(order_date, delivery_date, DAY)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7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31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Held back for the same data-quality reason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7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Sales Analytics  |  Dashboard Design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479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61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DAX Measures — Volume &amp; Value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70432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aggregations every KPI card and chart is built on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11091672" cy="365760"/>
          </a:xfrm>
          <a:prstGeom prst="rect">
            <a:avLst/>
          </a:prstGeom>
          <a:solidFill>
            <a:srgbClr val="13192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8368" y="1737360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2578608" y="1737360"/>
            <a:ext cx="3822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 (typical pattern)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510528" y="1737360"/>
            <a:ext cx="5129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2103120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Total_Sales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2578608" y="2103120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619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SUM('Sales'[sales_amount])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6510528" y="2103120"/>
            <a:ext cx="5056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revenue figure behind every sales chart and card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2670048"/>
            <a:ext cx="11091672" cy="566928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8368" y="2670048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Total_Order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578608" y="2670048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619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DISTINCTCOUNT('Sales'[order_id])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6510528" y="2670048"/>
            <a:ext cx="5056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count for the Executive KPI strip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3236976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Total_Quantity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2578608" y="3236976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619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SUM('Sales'[quantity])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6510528" y="3236976"/>
            <a:ext cx="5056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sold, used on KPI cards and product charts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3803904"/>
            <a:ext cx="11091672" cy="566928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3803904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Total_Products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2578608" y="3803904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619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DISTINCTCOUNT('Sales'[product_name])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6510528" y="3803904"/>
            <a:ext cx="5056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 products sold, paired with Total_Sales in the trend combo chart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4370832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Total_Customers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2578608" y="4370832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619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DISTINCTCOUNT('Sales'[customer_name])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6510528" y="4370832"/>
            <a:ext cx="5056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buyer count for the Executive KPI strip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8640" y="4937760"/>
            <a:ext cx="11091672" cy="566928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4937760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Average_Order_Value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2578608" y="4937760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619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DIVIDE([Total_Sales], [Total_Order])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6510528" y="4937760"/>
            <a:ext cx="5056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per order (AOV)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658368" y="5504688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Averagre_Selling_Price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2578608" y="5504688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619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DIVIDE([Total_Sales], [Total_Quantity])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6510528" y="5504688"/>
            <a:ext cx="5056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price realised per unit sold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Power BI's compiled data model is stored in a compressed binary format inside the .pbix file and can't be decompiled directly. Names below are the exact fields used in the report; formulas are the standard pattern for that name — verify the exact syntax in Power BI Desktop.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Sales Analytics — Dashboard Design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11368735" y="65288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479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61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DAX Measures — Trend &amp; Discount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70432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Month-over-month growth, top performer, discount and shipping-cost measures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11091672" cy="365760"/>
          </a:xfrm>
          <a:prstGeom prst="rect">
            <a:avLst/>
          </a:prstGeom>
          <a:solidFill>
            <a:srgbClr val="13192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8368" y="1737360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2578608" y="1737360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 (typical pattern)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7424928" y="1737360"/>
            <a:ext cx="4215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2103120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Previous_month_Sales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2578608" y="2103120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619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CALCULATE([Total_Sales], DATEADD('Date'[Date], -1, MONTH))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7424928" y="2103120"/>
            <a:ext cx="4142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month's sales, for the growth comparison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2670048"/>
            <a:ext cx="11091672" cy="566928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8368" y="2670048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Current_month_Sales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578608" y="2670048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619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CALCULATE([Total_Sales], MONTH('Date'[Date]) = MONTH(TODAY()))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7424928" y="2670048"/>
            <a:ext cx="4142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month's sales-to-date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3236976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Sales_Grwoth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2578608" y="3236976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619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DIVIDE([Current_month_Sales] - [Previous_month_Sales], [Previous_month_Sales])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7424928" y="3236976"/>
            <a:ext cx="4142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Month-over-month % growth shown on the Executive KPI strip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3803904"/>
            <a:ext cx="11091672" cy="566928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3803904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Top_Product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2578608" y="3803904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619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CALCULATE(VALUES('Sales'[product_name]), TOPN(1, ALL('Sales'[product_name]), [Total_Sales]))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7424928" y="3803904"/>
            <a:ext cx="4142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Best-selling product name, shown as a KPI card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4370832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Average_Discount_%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2578608" y="4370832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619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AVERAGE('Sales'[discount_pct])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7424928" y="4370832"/>
            <a:ext cx="4142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discount applied across orders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8640" y="4937760"/>
            <a:ext cx="11091672" cy="566928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4937760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Total_Shipping_Cost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2578608" y="4937760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619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SUM('Sales'[shipping_cost])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7424928" y="4937760"/>
            <a:ext cx="4142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logistics spend, shown on the Regional page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Power BI's compiled data model is stored in a compressed binary format inside the .pbix file and can't be decompiled directly. Names below are the exact fields used in the report; formulas are the standard pattern for that name — verify the exact syntax in Power BI Desktop.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Sales Analytics — Dashboard Design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1368735" y="65288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479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DESIGN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61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Chart Usage Mapping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70432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visual type carries which kind of insight across the report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1064240" cy="365760"/>
          </a:xfrm>
          <a:prstGeom prst="rect">
            <a:avLst/>
          </a:prstGeom>
          <a:solidFill>
            <a:srgbClr val="13192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8368" y="1783080"/>
            <a:ext cx="2267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3035808" y="1783080"/>
            <a:ext cx="4645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it's used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7790688" y="1783080"/>
            <a:ext cx="3822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chart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2148840"/>
            <a:ext cx="2194560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visual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035808" y="2148840"/>
            <a:ext cx="4572000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KPIs (Total Sales, Orders, AOV, Growth)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7790688" y="2148840"/>
            <a:ext cx="3749040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numbers read fastest at a glance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2638044"/>
            <a:ext cx="11064240" cy="489204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8368" y="2638044"/>
            <a:ext cx="2194560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Donut chart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3035808" y="2638044"/>
            <a:ext cx="4572000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method, category &amp; sub-category share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7790688" y="2638044"/>
            <a:ext cx="3749040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part-to-whole split with few slices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3127248"/>
            <a:ext cx="2194560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Treemap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035808" y="3127248"/>
            <a:ext cx="4572000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Sub-category share of total sales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7790688" y="3127248"/>
            <a:ext cx="3749040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hierarchy and relative size together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3616452"/>
            <a:ext cx="11064240" cy="489204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3616452"/>
            <a:ext cx="2194560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/ clustered column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3035808" y="3616452"/>
            <a:ext cx="4572000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Product, brand, category, state comparisons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7790688" y="3616452"/>
            <a:ext cx="3749040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 comparing magnitudes across groups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4105656"/>
            <a:ext cx="2194560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+ column combo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3035808" y="4105656"/>
            <a:ext cx="4572000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&amp; product volume trend over time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7790688" y="4105656"/>
            <a:ext cx="3749040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Bars show volume, line highlights direction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8640" y="4594860"/>
            <a:ext cx="11064240" cy="489204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4594860"/>
            <a:ext cx="2194560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Funnel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3035808" y="4594860"/>
            <a:ext cx="4572000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sales progression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7790688" y="4594860"/>
            <a:ext cx="3749040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drop-off across a ranked sequence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658368" y="5084064"/>
            <a:ext cx="2194560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Decomposition tree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3035808" y="5084064"/>
            <a:ext cx="4572000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by category → sub-category → brand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7790688" y="5084064"/>
            <a:ext cx="3749040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Lets a viewer drill top-down into what drives sales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48640" y="5573268"/>
            <a:ext cx="11064240" cy="489204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5573268"/>
            <a:ext cx="2194560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3035808" y="5573268"/>
            <a:ext cx="4572000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3 sub-categories, top brands, top customers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7790688" y="5573268"/>
            <a:ext cx="3749040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Precise ranked values a chart would blur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658368" y="6062472"/>
            <a:ext cx="2194560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Slicer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3035808" y="6062472"/>
            <a:ext cx="4572000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Date, state, city, brand, ship date filters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7790688" y="6062472"/>
            <a:ext cx="3749040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Lets viewers cross-filter every visual on the page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Sales Analytics — Dashboard Design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11368735" y="65288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479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61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Home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33856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 hub — routes the viewer into the three analysis pages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6949440" cy="4434840"/>
          </a:xfrm>
          <a:prstGeom prst="roundRect">
            <a:avLst>
              <a:gd name="adj" fmla="val 1237"/>
            </a:avLst>
          </a:prstGeom>
          <a:solidFill>
            <a:srgbClr val="EEF1F4"/>
          </a:solidFill>
          <a:ln w="19050">
            <a:solidFill>
              <a:srgbClr val="AAB2BD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548640" y="3268980"/>
            <a:ext cx="6949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 PLACEHOLDER
</a:t>
            </a:r>
            <a:r>
              <a:rPr lang="en-US" sz="1100" dirty="0">
                <a:solidFill>
                  <a:srgbClr val="838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your Power BI screenshot of</a:t>
            </a:r>
            <a:endParaRPr lang="en-US" sz="13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838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"Home" here (16:9, e.g. 1280×720)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669280" y="56692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1280 × 720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7726680" y="1600200"/>
            <a:ext cx="3962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1319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 ON THIS PAGE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7726680" y="1911096"/>
            <a:ext cx="54864" cy="54864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891272" y="1828800"/>
            <a:ext cx="379750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buttons (×4)  </a:t>
            </a: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 to Executive Sales Overview, Product &amp; Category Analysis, and Customer &amp; Regional Analysis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7726680" y="2240280"/>
            <a:ext cx="54864" cy="54864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891272" y="2157984"/>
            <a:ext cx="379750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/ logo  </a:t>
            </a: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branding and title banner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7726680" y="2596896"/>
            <a:ext cx="3962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1319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SLICERS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7726680" y="2871216"/>
            <a:ext cx="3962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— this is a landing page only.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48640" y="6144768"/>
            <a:ext cx="6949440" cy="384048"/>
          </a:xfrm>
          <a:prstGeom prst="roundRect">
            <a:avLst>
              <a:gd name="adj" fmla="val 11905"/>
            </a:avLst>
          </a:prstGeom>
          <a:solidFill>
            <a:srgbClr val="FFF4E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6144768"/>
            <a:ext cx="6675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Flow: Home → Executive Sales Overview → Product &amp; Category Analysis → Customer &amp; Regional Analysis (each page also has back/forward arrows)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Sales Analytics — Dashboard Design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1368735" y="65288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2A7A764F-82B9-5436-6853-E39A91A270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225" y="1600200"/>
            <a:ext cx="7113727" cy="444398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479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61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Executive Sales Overview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33856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KPIs, sales trend, and top-line composition of the business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6949440" cy="4434840"/>
          </a:xfrm>
          <a:prstGeom prst="roundRect">
            <a:avLst>
              <a:gd name="adj" fmla="val 1237"/>
            </a:avLst>
          </a:prstGeom>
          <a:solidFill>
            <a:srgbClr val="EEF1F4"/>
          </a:solidFill>
          <a:ln w="19050">
            <a:solidFill>
              <a:srgbClr val="AAB2BD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548640" y="3268980"/>
            <a:ext cx="6949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 PLACEHOLDER
</a:t>
            </a:r>
            <a:r>
              <a:rPr lang="en-US" sz="1100" dirty="0">
                <a:solidFill>
                  <a:srgbClr val="838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your Power BI screenshot of</a:t>
            </a:r>
            <a:endParaRPr lang="en-US" sz="13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838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"Executive Sales Overview" here (16:9, e.g. 1280×720)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669280" y="56692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1280 × 720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7726680" y="1600200"/>
            <a:ext cx="3962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1319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CARDS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7726680" y="1856232"/>
            <a:ext cx="1917040" cy="274320"/>
          </a:xfrm>
          <a:prstGeom prst="roundRect">
            <a:avLst>
              <a:gd name="adj" fmla="val 16667"/>
            </a:avLst>
          </a:prstGeom>
          <a:solidFill>
            <a:srgbClr val="F7F8FA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818120" y="1856232"/>
            <a:ext cx="1770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7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Sales</a:t>
            </a:r>
            <a:endParaRPr lang="en-US" sz="870" dirty="0"/>
          </a:p>
        </p:txBody>
      </p:sp>
      <p:sp>
        <p:nvSpPr>
          <p:cNvPr id="11" name="Shape 9"/>
          <p:cNvSpPr/>
          <p:nvPr/>
        </p:nvSpPr>
        <p:spPr>
          <a:xfrm>
            <a:off x="9771736" y="1856232"/>
            <a:ext cx="1917040" cy="274320"/>
          </a:xfrm>
          <a:prstGeom prst="roundRect">
            <a:avLst>
              <a:gd name="adj" fmla="val 16667"/>
            </a:avLst>
          </a:prstGeom>
          <a:solidFill>
            <a:srgbClr val="F7F8FA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863176" y="1856232"/>
            <a:ext cx="1770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7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Orders</a:t>
            </a:r>
            <a:endParaRPr lang="en-US" sz="870" dirty="0"/>
          </a:p>
        </p:txBody>
      </p:sp>
      <p:sp>
        <p:nvSpPr>
          <p:cNvPr id="13" name="Shape 11"/>
          <p:cNvSpPr/>
          <p:nvPr/>
        </p:nvSpPr>
        <p:spPr>
          <a:xfrm>
            <a:off x="7726680" y="2185416"/>
            <a:ext cx="1917040" cy="274320"/>
          </a:xfrm>
          <a:prstGeom prst="roundRect">
            <a:avLst>
              <a:gd name="adj" fmla="val 16667"/>
            </a:avLst>
          </a:prstGeom>
          <a:solidFill>
            <a:srgbClr val="F7F8FA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818120" y="2185416"/>
            <a:ext cx="1770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7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Quantity</a:t>
            </a:r>
            <a:endParaRPr lang="en-US" sz="870" dirty="0"/>
          </a:p>
        </p:txBody>
      </p:sp>
      <p:sp>
        <p:nvSpPr>
          <p:cNvPr id="15" name="Shape 13"/>
          <p:cNvSpPr/>
          <p:nvPr/>
        </p:nvSpPr>
        <p:spPr>
          <a:xfrm>
            <a:off x="9771736" y="2185416"/>
            <a:ext cx="1917040" cy="274320"/>
          </a:xfrm>
          <a:prstGeom prst="roundRect">
            <a:avLst>
              <a:gd name="adj" fmla="val 16667"/>
            </a:avLst>
          </a:prstGeom>
          <a:solidFill>
            <a:srgbClr val="F7F8FA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863176" y="2185416"/>
            <a:ext cx="1770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7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Customers</a:t>
            </a:r>
            <a:endParaRPr lang="en-US" sz="870" dirty="0"/>
          </a:p>
        </p:txBody>
      </p:sp>
      <p:sp>
        <p:nvSpPr>
          <p:cNvPr id="17" name="Shape 15"/>
          <p:cNvSpPr/>
          <p:nvPr/>
        </p:nvSpPr>
        <p:spPr>
          <a:xfrm>
            <a:off x="7726680" y="2514600"/>
            <a:ext cx="1917040" cy="274320"/>
          </a:xfrm>
          <a:prstGeom prst="roundRect">
            <a:avLst>
              <a:gd name="adj" fmla="val 16667"/>
            </a:avLst>
          </a:prstGeom>
          <a:solidFill>
            <a:srgbClr val="F7F8FA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818120" y="2514600"/>
            <a:ext cx="1770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7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Order Value</a:t>
            </a:r>
            <a:endParaRPr lang="en-US" sz="870" dirty="0"/>
          </a:p>
        </p:txBody>
      </p:sp>
      <p:sp>
        <p:nvSpPr>
          <p:cNvPr id="19" name="Shape 17"/>
          <p:cNvSpPr/>
          <p:nvPr/>
        </p:nvSpPr>
        <p:spPr>
          <a:xfrm>
            <a:off x="9771736" y="2514600"/>
            <a:ext cx="1917040" cy="274320"/>
          </a:xfrm>
          <a:prstGeom prst="roundRect">
            <a:avLst>
              <a:gd name="adj" fmla="val 16667"/>
            </a:avLst>
          </a:prstGeom>
          <a:solidFill>
            <a:srgbClr val="F7F8FA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863176" y="2514600"/>
            <a:ext cx="1770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7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Previous Month Sales</a:t>
            </a:r>
            <a:endParaRPr lang="en-US" sz="870" dirty="0"/>
          </a:p>
        </p:txBody>
      </p:sp>
      <p:sp>
        <p:nvSpPr>
          <p:cNvPr id="21" name="Shape 19"/>
          <p:cNvSpPr/>
          <p:nvPr/>
        </p:nvSpPr>
        <p:spPr>
          <a:xfrm>
            <a:off x="7726680" y="2843784"/>
            <a:ext cx="1917040" cy="274320"/>
          </a:xfrm>
          <a:prstGeom prst="roundRect">
            <a:avLst>
              <a:gd name="adj" fmla="val 16667"/>
            </a:avLst>
          </a:prstGeom>
          <a:solidFill>
            <a:srgbClr val="F7F8FA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818120" y="2843784"/>
            <a:ext cx="1770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7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Month Sales</a:t>
            </a:r>
            <a:endParaRPr lang="en-US" sz="870" dirty="0"/>
          </a:p>
        </p:txBody>
      </p:sp>
      <p:sp>
        <p:nvSpPr>
          <p:cNvPr id="23" name="Shape 21"/>
          <p:cNvSpPr/>
          <p:nvPr/>
        </p:nvSpPr>
        <p:spPr>
          <a:xfrm>
            <a:off x="9771736" y="2843784"/>
            <a:ext cx="1917040" cy="274320"/>
          </a:xfrm>
          <a:prstGeom prst="roundRect">
            <a:avLst>
              <a:gd name="adj" fmla="val 16667"/>
            </a:avLst>
          </a:prstGeom>
          <a:solidFill>
            <a:srgbClr val="F7F8FA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863176" y="2843784"/>
            <a:ext cx="1770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7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Growth %</a:t>
            </a:r>
            <a:endParaRPr lang="en-US" sz="870" dirty="0"/>
          </a:p>
        </p:txBody>
      </p:sp>
      <p:sp>
        <p:nvSpPr>
          <p:cNvPr id="25" name="Text 23"/>
          <p:cNvSpPr txBox="1"/>
          <p:nvPr/>
        </p:nvSpPr>
        <p:spPr>
          <a:xfrm>
            <a:off x="7726680" y="3319272"/>
            <a:ext cx="3962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1319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 ON THIS PAGE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726680" y="3630168"/>
            <a:ext cx="54864" cy="54864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891272" y="3547872"/>
            <a:ext cx="3797503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+ column combo  </a:t>
            </a: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Sales &amp; Total Products by order date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726680" y="3918204"/>
            <a:ext cx="54864" cy="54864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891272" y="3835908"/>
            <a:ext cx="3797503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Clustered column  </a:t>
            </a: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Sales by category &amp; sub-category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726680" y="4206240"/>
            <a:ext cx="54864" cy="54864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891272" y="4123944"/>
            <a:ext cx="3797503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chart  </a:t>
            </a: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Sales by product name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7726680" y="4494276"/>
            <a:ext cx="54864" cy="54864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891272" y="4411980"/>
            <a:ext cx="3797503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Treemap  </a:t>
            </a: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Sales share by sub-category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7726680" y="4782312"/>
            <a:ext cx="54864" cy="54864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891272" y="4700016"/>
            <a:ext cx="3797503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Donut chart  </a:t>
            </a: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Sales by payment method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7726680" y="5070348"/>
            <a:ext cx="54864" cy="54864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7891272" y="4988052"/>
            <a:ext cx="3797503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 chart  </a:t>
            </a: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Sales by month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7726680" y="5358384"/>
            <a:ext cx="54864" cy="54864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7891272" y="5276088"/>
            <a:ext cx="3797503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(×2)  </a:t>
            </a: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3 sub-categories · Top 3 brands by sales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7726680" y="5673852"/>
            <a:ext cx="3962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1319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SLICERS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7726680" y="5948172"/>
            <a:ext cx="3962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(Order Date, between range)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Sales Analytics — Dashboard Design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11368735" y="65288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2A6FDE1B-28F6-A737-161A-13CABDA296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577340"/>
            <a:ext cx="7141464" cy="453085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479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61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 &amp; Category Analysis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33856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Category, brand and product-level performance with pricing &amp; discount detail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6949440" cy="4434840"/>
          </a:xfrm>
          <a:prstGeom prst="roundRect">
            <a:avLst>
              <a:gd name="adj" fmla="val 1237"/>
            </a:avLst>
          </a:prstGeom>
          <a:solidFill>
            <a:srgbClr val="EEF1F4"/>
          </a:solidFill>
          <a:ln w="19050">
            <a:solidFill>
              <a:srgbClr val="AAB2BD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548640" y="3268980"/>
            <a:ext cx="6949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 PLACEHOLDER
</a:t>
            </a:r>
            <a:r>
              <a:rPr lang="en-US" sz="1100" dirty="0">
                <a:solidFill>
                  <a:srgbClr val="838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your Power BI screenshot of</a:t>
            </a:r>
            <a:endParaRPr lang="en-US" sz="13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838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"Product &amp; Category Analysis" here (16:9, e.g. 1280×720)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669280" y="56692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1280 × 720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7726680" y="1600200"/>
            <a:ext cx="3962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1319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CARDS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7726680" y="1856232"/>
            <a:ext cx="3962095" cy="274320"/>
          </a:xfrm>
          <a:prstGeom prst="roundRect">
            <a:avLst>
              <a:gd name="adj" fmla="val 16667"/>
            </a:avLst>
          </a:prstGeom>
          <a:solidFill>
            <a:srgbClr val="F7F8FA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818120" y="1856232"/>
            <a:ext cx="38157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7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Sales</a:t>
            </a:r>
            <a:endParaRPr lang="en-US" sz="870" dirty="0"/>
          </a:p>
        </p:txBody>
      </p:sp>
      <p:sp>
        <p:nvSpPr>
          <p:cNvPr id="11" name="Shape 9"/>
          <p:cNvSpPr/>
          <p:nvPr/>
        </p:nvSpPr>
        <p:spPr>
          <a:xfrm>
            <a:off x="7726680" y="2185416"/>
            <a:ext cx="3962095" cy="274320"/>
          </a:xfrm>
          <a:prstGeom prst="roundRect">
            <a:avLst>
              <a:gd name="adj" fmla="val 16667"/>
            </a:avLst>
          </a:prstGeom>
          <a:solidFill>
            <a:srgbClr val="F7F8FA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818120" y="2185416"/>
            <a:ext cx="38157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7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Quantity</a:t>
            </a:r>
            <a:endParaRPr lang="en-US" sz="870" dirty="0"/>
          </a:p>
        </p:txBody>
      </p:sp>
      <p:sp>
        <p:nvSpPr>
          <p:cNvPr id="13" name="Shape 11"/>
          <p:cNvSpPr/>
          <p:nvPr/>
        </p:nvSpPr>
        <p:spPr>
          <a:xfrm>
            <a:off x="7726680" y="2514600"/>
            <a:ext cx="3962095" cy="274320"/>
          </a:xfrm>
          <a:prstGeom prst="roundRect">
            <a:avLst>
              <a:gd name="adj" fmla="val 16667"/>
            </a:avLst>
          </a:prstGeom>
          <a:solidFill>
            <a:srgbClr val="F7F8FA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818120" y="2514600"/>
            <a:ext cx="38157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7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Product</a:t>
            </a:r>
            <a:endParaRPr lang="en-US" sz="870" dirty="0"/>
          </a:p>
        </p:txBody>
      </p:sp>
      <p:sp>
        <p:nvSpPr>
          <p:cNvPr id="15" name="Shape 13"/>
          <p:cNvSpPr/>
          <p:nvPr/>
        </p:nvSpPr>
        <p:spPr>
          <a:xfrm>
            <a:off x="7726680" y="2843784"/>
            <a:ext cx="3962095" cy="274320"/>
          </a:xfrm>
          <a:prstGeom prst="roundRect">
            <a:avLst>
              <a:gd name="adj" fmla="val 16667"/>
            </a:avLst>
          </a:prstGeom>
          <a:solidFill>
            <a:srgbClr val="F7F8FA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818120" y="2843784"/>
            <a:ext cx="38157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7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Selling Price</a:t>
            </a:r>
            <a:endParaRPr lang="en-US" sz="870" dirty="0"/>
          </a:p>
        </p:txBody>
      </p:sp>
      <p:sp>
        <p:nvSpPr>
          <p:cNvPr id="17" name="Shape 15"/>
          <p:cNvSpPr/>
          <p:nvPr/>
        </p:nvSpPr>
        <p:spPr>
          <a:xfrm>
            <a:off x="7726680" y="3172968"/>
            <a:ext cx="3962095" cy="274320"/>
          </a:xfrm>
          <a:prstGeom prst="roundRect">
            <a:avLst>
              <a:gd name="adj" fmla="val 16667"/>
            </a:avLst>
          </a:prstGeom>
          <a:solidFill>
            <a:srgbClr val="F7F8FA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818120" y="3172968"/>
            <a:ext cx="38157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7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Discount %</a:t>
            </a:r>
            <a:endParaRPr lang="en-US" sz="87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3648456"/>
            <a:ext cx="3962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1319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 ON THIS PAGE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26680" y="3959352"/>
            <a:ext cx="54864" cy="54864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891272" y="3877056"/>
            <a:ext cx="379750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Decomposition tree  </a:t>
            </a: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Sales split by category → sub-category → brand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726680" y="4288536"/>
            <a:ext cx="54864" cy="54864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891272" y="4206240"/>
            <a:ext cx="379750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Funnel  </a:t>
            </a: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Sales by product name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726680" y="4617720"/>
            <a:ext cx="54864" cy="54864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891272" y="4535424"/>
            <a:ext cx="379750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Clustered column  </a:t>
            </a: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Sales &amp; Total Products by sub-category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726680" y="4946904"/>
            <a:ext cx="54864" cy="54864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891272" y="4864608"/>
            <a:ext cx="379750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chart  </a:t>
            </a: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Sales by brand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726680" y="5276088"/>
            <a:ext cx="54864" cy="54864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891272" y="5193792"/>
            <a:ext cx="379750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Donut chart  </a:t>
            </a: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Sales by category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726680" y="5605272"/>
            <a:ext cx="54864" cy="54864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891272" y="5522976"/>
            <a:ext cx="379750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 </a:t>
            </a: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· Brand · Category · Orders · Qty · Sales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7726680" y="5961888"/>
            <a:ext cx="3962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1319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SLICERS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7726680" y="6236208"/>
            <a:ext cx="3962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· City · Brand · Order Date · Ship Date  (6 slicers total)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Sales Analytics — Dashboard Design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11368735" y="65288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51DFF9BA-34F0-12D3-579E-F939D82B53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780" y="1576343"/>
            <a:ext cx="7085172" cy="453184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479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61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 &amp; Regional Analysis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33856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customers plus sales, payment mix and shipping cost by state &amp; city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68980"/>
            <a:ext cx="6949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 PLACEHOLDER
</a:t>
            </a:r>
            <a:r>
              <a:rPr lang="en-US" sz="1100" dirty="0">
                <a:solidFill>
                  <a:srgbClr val="838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your Power BI screenshot of</a:t>
            </a:r>
            <a:endParaRPr lang="en-US" sz="13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838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"Customer &amp; Regional Analysis" here (16:9, e.g. 1280×720)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669280" y="56692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1280 × 720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7726680" y="1600200"/>
            <a:ext cx="3962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1319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CARDS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7726680" y="1856232"/>
            <a:ext cx="3962095" cy="274320"/>
          </a:xfrm>
          <a:prstGeom prst="roundRect">
            <a:avLst>
              <a:gd name="adj" fmla="val 16667"/>
            </a:avLst>
          </a:prstGeom>
          <a:solidFill>
            <a:srgbClr val="F7F8FA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818120" y="1856232"/>
            <a:ext cx="38157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7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Sales</a:t>
            </a:r>
            <a:endParaRPr lang="en-US" sz="870" dirty="0"/>
          </a:p>
        </p:txBody>
      </p:sp>
      <p:sp>
        <p:nvSpPr>
          <p:cNvPr id="11" name="Shape 9"/>
          <p:cNvSpPr/>
          <p:nvPr/>
        </p:nvSpPr>
        <p:spPr>
          <a:xfrm>
            <a:off x="7726680" y="2185416"/>
            <a:ext cx="3962095" cy="274320"/>
          </a:xfrm>
          <a:prstGeom prst="roundRect">
            <a:avLst>
              <a:gd name="adj" fmla="val 16667"/>
            </a:avLst>
          </a:prstGeom>
          <a:solidFill>
            <a:srgbClr val="F7F8FA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818120" y="2185416"/>
            <a:ext cx="38157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7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Quantity</a:t>
            </a:r>
            <a:endParaRPr lang="en-US" sz="870" dirty="0"/>
          </a:p>
        </p:txBody>
      </p:sp>
      <p:sp>
        <p:nvSpPr>
          <p:cNvPr id="13" name="Shape 11"/>
          <p:cNvSpPr/>
          <p:nvPr/>
        </p:nvSpPr>
        <p:spPr>
          <a:xfrm>
            <a:off x="7726680" y="2514600"/>
            <a:ext cx="3962095" cy="274320"/>
          </a:xfrm>
          <a:prstGeom prst="roundRect">
            <a:avLst>
              <a:gd name="adj" fmla="val 16667"/>
            </a:avLst>
          </a:prstGeom>
          <a:solidFill>
            <a:srgbClr val="F7F8FA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818120" y="2514600"/>
            <a:ext cx="38157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7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Selling Price</a:t>
            </a:r>
            <a:endParaRPr lang="en-US" sz="870" dirty="0"/>
          </a:p>
        </p:txBody>
      </p:sp>
      <p:sp>
        <p:nvSpPr>
          <p:cNvPr id="15" name="Shape 13"/>
          <p:cNvSpPr/>
          <p:nvPr/>
        </p:nvSpPr>
        <p:spPr>
          <a:xfrm>
            <a:off x="7726680" y="2843784"/>
            <a:ext cx="3962095" cy="274320"/>
          </a:xfrm>
          <a:prstGeom prst="roundRect">
            <a:avLst>
              <a:gd name="adj" fmla="val 16667"/>
            </a:avLst>
          </a:prstGeom>
          <a:solidFill>
            <a:srgbClr val="F7F8FA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818120" y="2843784"/>
            <a:ext cx="38157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7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Shipping Cost</a:t>
            </a:r>
            <a:endParaRPr lang="en-US" sz="870" dirty="0"/>
          </a:p>
        </p:txBody>
      </p:sp>
      <p:sp>
        <p:nvSpPr>
          <p:cNvPr id="17" name="Shape 15"/>
          <p:cNvSpPr/>
          <p:nvPr/>
        </p:nvSpPr>
        <p:spPr>
          <a:xfrm>
            <a:off x="7726680" y="3172968"/>
            <a:ext cx="3962095" cy="274320"/>
          </a:xfrm>
          <a:prstGeom prst="roundRect">
            <a:avLst>
              <a:gd name="adj" fmla="val 16667"/>
            </a:avLst>
          </a:prstGeom>
          <a:solidFill>
            <a:srgbClr val="F7F8FA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818120" y="3172968"/>
            <a:ext cx="38157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7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Order Value</a:t>
            </a:r>
            <a:endParaRPr lang="en-US" sz="87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3648456"/>
            <a:ext cx="3962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1319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 ON THIS PAGE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26680" y="3959352"/>
            <a:ext cx="54864" cy="54864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891272" y="3877056"/>
            <a:ext cx="379750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+ stacked column combo  </a:t>
            </a: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Sales by city &amp; order date, split by category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726680" y="4288536"/>
            <a:ext cx="54864" cy="54864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891272" y="4206240"/>
            <a:ext cx="379750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 chart  </a:t>
            </a: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Sales by state, split by category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726680" y="4617720"/>
            <a:ext cx="54864" cy="54864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891272" y="4535424"/>
            <a:ext cx="379750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chart  </a:t>
            </a: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Sales by customer name &amp; month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726680" y="4946904"/>
            <a:ext cx="54864" cy="54864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891272" y="4864608"/>
            <a:ext cx="379750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Donut chart  </a:t>
            </a: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Sales by payment method / state / category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726680" y="5276088"/>
            <a:ext cx="54864" cy="54864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891272" y="5193792"/>
            <a:ext cx="379750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 </a:t>
            </a: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· Orders · Quantity · Sales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7726680" y="5632704"/>
            <a:ext cx="3962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1319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SLICERS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7726680" y="5907024"/>
            <a:ext cx="3962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(Order Date, between range)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Sales Analytics — Dashboard Design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11368735" y="65288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646E3113-DE7E-ED31-49C2-9AAB2E49C3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5873" y="1943100"/>
            <a:ext cx="5634104" cy="368309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319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VIEWING FLOW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 Viewer Moves Through the Report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468880" cy="2834640"/>
          </a:xfrm>
          <a:prstGeom prst="roundRect">
            <a:avLst>
              <a:gd name="adj" fmla="val 2963"/>
            </a:avLst>
          </a:prstGeom>
          <a:solidFill>
            <a:srgbClr val="1B2531"/>
          </a:solidFill>
          <a:ln w="12700">
            <a:solidFill>
              <a:srgbClr val="313D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947672"/>
            <a:ext cx="502920" cy="502920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947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319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606040"/>
            <a:ext cx="2066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3154680"/>
            <a:ext cx="20665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AEB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page — pick a destination from the navigation menu.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026664" y="2834640"/>
            <a:ext cx="2377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273552" y="1691640"/>
            <a:ext cx="2468880" cy="2834640"/>
          </a:xfrm>
          <a:prstGeom prst="roundRect">
            <a:avLst>
              <a:gd name="adj" fmla="val 2963"/>
            </a:avLst>
          </a:prstGeom>
          <a:solidFill>
            <a:srgbClr val="1B2531"/>
          </a:solidFill>
          <a:ln w="12700">
            <a:solidFill>
              <a:srgbClr val="313D4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02152" y="1947672"/>
            <a:ext cx="502920" cy="502920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502152" y="1947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319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2606040"/>
            <a:ext cx="2066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Sales Overview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3474720" y="3154680"/>
            <a:ext cx="20665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AEB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top-line KPIs and the overall sales trend.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5751576" y="2834640"/>
            <a:ext cx="2377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998464" y="1691640"/>
            <a:ext cx="2468880" cy="2834640"/>
          </a:xfrm>
          <a:prstGeom prst="roundRect">
            <a:avLst>
              <a:gd name="adj" fmla="val 2963"/>
            </a:avLst>
          </a:prstGeom>
          <a:solidFill>
            <a:srgbClr val="1B2531"/>
          </a:solidFill>
          <a:ln w="12700">
            <a:solidFill>
              <a:srgbClr val="313D4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27064" y="1947672"/>
            <a:ext cx="502920" cy="502920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227064" y="1947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319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6199632" y="2606040"/>
            <a:ext cx="2066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&amp; Category Analysis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6199632" y="3154680"/>
            <a:ext cx="20665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AEB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Drill into which categories, brands and products drive it.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8476488" y="2834640"/>
            <a:ext cx="2377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8723376" y="1691640"/>
            <a:ext cx="2468880" cy="2834640"/>
          </a:xfrm>
          <a:prstGeom prst="roundRect">
            <a:avLst>
              <a:gd name="adj" fmla="val 2963"/>
            </a:avLst>
          </a:prstGeom>
          <a:solidFill>
            <a:srgbClr val="1B2531"/>
          </a:solidFill>
          <a:ln w="12700">
            <a:solidFill>
              <a:srgbClr val="313D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951976" y="1947672"/>
            <a:ext cx="502920" cy="502920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951976" y="1947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319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8924544" y="2606040"/>
            <a:ext cx="2066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&amp; Regional Analysis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8924544" y="3154680"/>
            <a:ext cx="20665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AEB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on who is buying, and from where.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48640" y="4846320"/>
            <a:ext cx="11091672" cy="1325880"/>
          </a:xfrm>
          <a:prstGeom prst="roundRect">
            <a:avLst>
              <a:gd name="adj" fmla="val 5517"/>
            </a:avLst>
          </a:prstGeom>
          <a:solidFill>
            <a:srgbClr val="1B2531"/>
          </a:solidFill>
          <a:ln w="12700">
            <a:solidFill>
              <a:srgbClr val="313D4D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2960" y="5029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822960" y="5321808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Sales Analytics — Dashboard Design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1368735" y="65288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19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chemeClr val="bg1"/>
                </a:solidFill>
              </a:rPr>
              <a:t>Key Findings — Amazon Sales Analytics (Jan–Feb 2026)</a:t>
            </a:r>
            <a:endParaRPr lang="en-US" sz="2800" dirty="0">
              <a:solidFill>
                <a:schemeClr val="bg1"/>
              </a:solidFill>
            </a:endParaRPr>
          </a:p>
        </p:txBody>
      </p:sp>
      <p:sp>
        <p:nvSpPr>
          <p:cNvPr id="27" name="Shape 25"/>
          <p:cNvSpPr/>
          <p:nvPr/>
        </p:nvSpPr>
        <p:spPr>
          <a:xfrm>
            <a:off x="548640" y="1554480"/>
            <a:ext cx="11091672" cy="4617720"/>
          </a:xfrm>
          <a:prstGeom prst="roundRect">
            <a:avLst>
              <a:gd name="adj" fmla="val 5517"/>
            </a:avLst>
          </a:prstGeom>
          <a:solidFill>
            <a:srgbClr val="1B2531"/>
          </a:solidFill>
          <a:ln w="12700">
            <a:solidFill>
              <a:srgbClr val="313D4D"/>
            </a:solidFill>
            <a:prstDash val="solid"/>
          </a:ln>
        </p:spPr>
        <p:txBody>
          <a:bodyPr/>
          <a:lstStyle/>
          <a:p>
            <a:pPr rtl="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bg1"/>
                </a:solidFill>
              </a:rPr>
              <a:t>$642.1M</a:t>
            </a:r>
            <a:r>
              <a:rPr lang="en-US" dirty="0">
                <a:solidFill>
                  <a:schemeClr val="bg1"/>
                </a:solidFill>
              </a:rPr>
              <a:t> in total sales across </a:t>
            </a:r>
            <a:r>
              <a:rPr lang="en-US" b="1" dirty="0">
                <a:solidFill>
                  <a:schemeClr val="bg1"/>
                </a:solidFill>
              </a:rPr>
              <a:t>10,000 orders</a:t>
            </a:r>
            <a:r>
              <a:rPr lang="en-US" dirty="0">
                <a:solidFill>
                  <a:schemeClr val="bg1"/>
                </a:solidFill>
              </a:rPr>
              <a:t> (30,144 units)</a:t>
            </a:r>
          </a:p>
          <a:p>
            <a:pPr rtl="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bg1"/>
                </a:solidFill>
              </a:rPr>
              <a:t>AOV: $64.2K</a:t>
            </a:r>
            <a:r>
              <a:rPr lang="en-US" dirty="0">
                <a:solidFill>
                  <a:schemeClr val="bg1"/>
                </a:solidFill>
              </a:rPr>
              <a:t> | </a:t>
            </a:r>
            <a:r>
              <a:rPr lang="en-US" b="1" dirty="0">
                <a:solidFill>
                  <a:schemeClr val="bg1"/>
                </a:solidFill>
              </a:rPr>
              <a:t>Avg. Selling Price: $21.3K</a:t>
            </a:r>
            <a:r>
              <a:rPr lang="en-US" dirty="0">
                <a:solidFill>
                  <a:schemeClr val="bg1"/>
                </a:solidFill>
              </a:rPr>
              <a:t> | </a:t>
            </a:r>
            <a:r>
              <a:rPr lang="en-US" b="1" dirty="0">
                <a:solidFill>
                  <a:schemeClr val="bg1"/>
                </a:solidFill>
              </a:rPr>
              <a:t>Avg. Discount: 15%</a:t>
            </a:r>
            <a:endParaRPr lang="en-US" dirty="0">
              <a:solidFill>
                <a:schemeClr val="bg1"/>
              </a:solidFill>
            </a:endParaRPr>
          </a:p>
          <a:p>
            <a:pPr rtl="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Sales up from </a:t>
            </a:r>
            <a:r>
              <a:rPr lang="en-US" b="1" dirty="0">
                <a:solidFill>
                  <a:schemeClr val="bg1"/>
                </a:solidFill>
              </a:rPr>
              <a:t>$604.2M</a:t>
            </a:r>
            <a:r>
              <a:rPr lang="en-US" dirty="0">
                <a:solidFill>
                  <a:schemeClr val="bg1"/>
                </a:solidFill>
              </a:rPr>
              <a:t> the previous month</a:t>
            </a:r>
          </a:p>
          <a:p>
            <a:pPr rtl="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bg1"/>
                </a:solidFill>
              </a:rPr>
              <a:t>Category mix is balanced</a:t>
            </a:r>
            <a:r>
              <a:rPr lang="en-US" dirty="0">
                <a:solidFill>
                  <a:schemeClr val="bg1"/>
                </a:solidFill>
              </a:rPr>
              <a:t>: Electronics 34% · Home 33.5% · Fashion 32.3% — no single category dominates</a:t>
            </a:r>
          </a:p>
          <a:p>
            <a:pPr rtl="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bg1"/>
                </a:solidFill>
              </a:rPr>
              <a:t>Revenue is broad-based, not concentrated</a:t>
            </a:r>
            <a:r>
              <a:rPr lang="en-US" dirty="0">
                <a:solidFill>
                  <a:schemeClr val="bg1"/>
                </a:solidFill>
              </a:rPr>
              <a:t>: top product outsells #10 by only ~33%; no single brand or state stands out</a:t>
            </a:r>
          </a:p>
          <a:p>
            <a:pPr rtl="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State-level sales are fairly uniform across the board (no standout state).</a:t>
            </a:r>
          </a:p>
          <a:p>
            <a:pPr rtl="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City-level sales range from ~$0.85M (top city) down to ~$0.4M (lowest shown), with order counts trending down in step — a normal, gradual drop-off rather than one city dominating.</a:t>
            </a:r>
          </a:p>
          <a:p>
            <a:pPr rtl="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Top brands (Johnson and Sons, Smith Ltd) each sit around $1.0–1.2M — small relative to the $642M total, reinforcing that many brands share the volume rather than a few large ones.</a:t>
            </a:r>
          </a:p>
          <a:p>
            <a:endParaRPr lang="en-US" dirty="0"/>
          </a:p>
        </p:txBody>
      </p:sp>
      <p:sp>
        <p:nvSpPr>
          <p:cNvPr id="29" name="Text 27"/>
          <p:cNvSpPr txBox="1"/>
          <p:nvPr/>
        </p:nvSpPr>
        <p:spPr>
          <a:xfrm>
            <a:off x="822960" y="5321808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Sales Analytics — Dashboard Design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1368735" y="65288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7267759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19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22960" y="5321808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Sales Analytics — Dashboard Design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1368735" y="65288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13D8F5-A1AF-A9F2-EBC4-6C818C2F8D4A}"/>
              </a:ext>
            </a:extLst>
          </p:cNvPr>
          <p:cNvSpPr txBox="1"/>
          <p:nvPr/>
        </p:nvSpPr>
        <p:spPr>
          <a:xfrm>
            <a:off x="1889185" y="3075057"/>
            <a:ext cx="809157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9912039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</TotalTime>
  <Words>1909</Words>
  <Application>Microsoft Office PowerPoint</Application>
  <PresentationFormat>Widescreen</PresentationFormat>
  <Paragraphs>306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Arial</vt:lpstr>
      <vt:lpstr>Bookman Old Style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Tharun Kattiparambil Thambi</cp:lastModifiedBy>
  <cp:revision>8</cp:revision>
  <dcterms:created xsi:type="dcterms:W3CDTF">2026-09-16T02:01:30Z</dcterms:created>
  <dcterms:modified xsi:type="dcterms:W3CDTF">2026-09-16T15:50:03Z</dcterms:modified>
</cp:coreProperties>
</file>